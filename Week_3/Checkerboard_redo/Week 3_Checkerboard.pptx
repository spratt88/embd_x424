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0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6998" autoAdjust="0"/>
  </p:normalViewPr>
  <p:slideViewPr>
    <p:cSldViewPr snapToGrid="0">
      <p:cViewPr varScale="1">
        <p:scale>
          <a:sx n="85" d="100"/>
          <a:sy n="85" d="100"/>
        </p:scale>
        <p:origin x="159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E33D4C-727B-4800-818C-9C3B2FB761F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47EEAE-B9C5-4D35-A931-B91954B2B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491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48A85-0A9E-FE45-A4CF-F0330FF06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36CCD1-88DB-282A-F18E-4B9A928964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7E5CD8-336F-A1AB-53D3-1326C6ED39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C8AFE5-792B-7E69-C3E8-3EC8D16190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47EEAE-B9C5-4D35-A931-B91954B2B5D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5626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CCB75-51CE-B156-E9FB-263B5C546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336921-2EDD-BD04-D920-52BA5657CB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6683E6-B707-112E-2BB2-32BBD00563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4C89C-2692-C408-053F-739B95BDEE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47EEAE-B9C5-4D35-A931-B91954B2B5D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3429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08FC9-5B1E-8BA0-206C-954FE7222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ECCF57-CD55-4C72-142D-45DE35BC71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20E509-7117-B9CD-E96F-F17B823D28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C8ADCE-4AF2-44A1-BCFA-B4EFAC50D4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47EEAE-B9C5-4D35-A931-B91954B2B5D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9879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19F74-C730-BD43-A65C-96D25F659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548E05-DD0C-CDC0-77EA-8BD5943DAD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BBECB3-7D16-89D8-3AD6-5392D59A0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2CEC19-AC2B-5DB8-CB84-213FEB8EEE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47EEAE-B9C5-4D35-A931-B91954B2B5D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816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DB970-5E35-3509-F17D-E4E618244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19CC97-9C46-80A3-326D-123DB74B52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76CDDC-2205-5884-13BD-C31BEB18B1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5ADB81-7471-A329-DACE-BA2D29AF49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47EEAE-B9C5-4D35-A931-B91954B2B5D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9150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C1F90-B607-B6E4-4DB4-AF7DCA4B6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3B3033-4BEB-79B8-B29C-0D8037C0B1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E747B0-4124-089E-070E-FFC48F5C03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831C12-2CB7-91FB-0F05-1D7BDBCAE0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47EEAE-B9C5-4D35-A931-B91954B2B5D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8011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B3213-0342-FBC5-69F1-866F8C97B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624EF0-92CB-9FE0-EC15-C6874A0E1D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3C7444-FA3F-1DAB-7371-2D6ACC882F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Full-Batch Model Accuracy: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0.9960 (or 99.6%)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Mini-Batch Model Accuracy: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1.0000 (or 100%)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2B5D29-AB1B-F2DB-889A-B92A21BFB2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47EEAE-B9C5-4D35-A931-B91954B2B5D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9181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ED205-A261-481D-908B-DFE3878EE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D93B36-CA99-1379-971B-569B6F5908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43DDDC-45BB-4EE9-017C-66CD80FC7A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C24B27-8682-77F6-3F2C-9BF440EEB5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47EEAE-B9C5-4D35-A931-B91954B2B5D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5239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EBD66-7538-9ECE-1B91-A7AFADEAD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232277-1F80-BB88-BFB2-E4FE1500D8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8D8366-9D06-673D-1C89-380B334F30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Three-Hidden-Layer Mini-Batch Model Accuracy: 0.9950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62BCFD-CC0C-7F42-F57F-9829364468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47EEAE-B9C5-4D35-A931-B91954B2B5D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1942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0F3A9-8346-5018-396D-2736F8A1A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2AE936-B5EF-2CCA-7D0E-F5A4DD70D6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0D469C-08AC-94DF-48AD-4FDB93F93F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280A74-7A8C-4AA6-48A3-75ADB47C4E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47EEAE-B9C5-4D35-A931-B91954B2B5D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0282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41629-39DE-7499-C2A0-27A0F8F0F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8B04BC-4415-806D-C3A1-5F9DF36B90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0F7FA8-EA4F-BC48-AB05-BE7B5FC941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Three-Hidden-Layer Mini-Batch Model Accuracy: 0.9667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68EA70-2E10-B05C-2FB9-044C999856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47EEAE-B9C5-4D35-A931-B91954B2B5D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86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6E5F2-C964-7258-B05E-220512BB2B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D11B44-B23C-E150-DF91-3B1BD47DC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DF846-0889-83BF-BB67-529028687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8BCD8-7200-4B18-A50D-104872E35C1B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9B6E0-1370-678B-3A6C-C048B9A3B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E15C1-5538-A944-7FD8-7BDAE07FD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6921A-14A2-4F32-A9D6-E78D072D5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313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EA033-D3EE-7051-4F03-75C263100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048AA-374B-9AFA-B5CD-55A9B4E47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8AB33-3AD1-9988-0855-6249EFB94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8BCD8-7200-4B18-A50D-104872E35C1B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489E2-6EF0-53EB-FF68-A95C213CB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30FDF-B361-A2D6-3CFF-31A30AA76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6921A-14A2-4F32-A9D6-E78D072D5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918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27ADC-AC4A-0ECB-0820-5E79574AA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AB03E-9698-1904-7E2E-255FFBB4F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4D6F9-304A-180E-17F4-1BD38B5F5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8BCD8-7200-4B18-A50D-104872E35C1B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CDD61-479F-4891-F963-CDC0B4FE8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050C1-B8B9-B0A0-5A15-46C6FC09C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6921A-14A2-4F32-A9D6-E78D072D5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919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2BE7-097F-1567-F4DD-FFF7038CF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D0640-D3FF-3E2D-354B-5F61FD33DF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A6E98A-9E68-50A0-B2D1-338A46393B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0C9163-F658-9BC2-C043-AC567E4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8BCD8-7200-4B18-A50D-104872E35C1B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C8C839-4094-D362-2735-B8EF10A16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AD1C45-BD4E-F696-2468-80FC135B1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6921A-14A2-4F32-A9D6-E78D072D5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261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0DC49-69E0-7AA4-9CDE-F1225DC7F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A5A44A-6044-9B42-373D-3A3F6CBE1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03B8CE-96BF-FD12-A613-24E72D885C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7142DB-B9EB-97F0-F4E3-9149663D9E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6AE1AC-4E12-9988-81FB-520D8AA35D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124AFB-B948-787B-BA8E-EF95AA467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8BCD8-7200-4B18-A50D-104872E35C1B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9EF6BF-8FA5-3CDE-2BC3-3A32E94E7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7FDBC7-6B8F-CE28-8EFA-66FD397FE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6921A-14A2-4F32-A9D6-E78D072D5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932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C2279-A59A-CB4E-0D61-2387A3401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FDD0CC-D25A-3EBA-6DB7-543A8D159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8BCD8-7200-4B18-A50D-104872E35C1B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3C12C3-A6C1-E2AC-CD68-9874E990A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D96331-E1E6-16CC-4E09-F014CE705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6921A-14A2-4F32-A9D6-E78D072D5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697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D3EAFF-3951-9287-B76D-A2F40000D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8BCD8-7200-4B18-A50D-104872E35C1B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A7CE7B-6CE2-BEC2-E4E5-7813923BF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2A3795-0742-137B-267F-303FC2E31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6921A-14A2-4F32-A9D6-E78D072D5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509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321C0-C08E-246B-0800-378B9C41E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87404-B4C8-C47D-D47C-64511AB88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09F497-01D8-0C00-51B7-A44DDAD7F8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702A6-40E6-9A70-6C93-967E43487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8BCD8-7200-4B18-A50D-104872E35C1B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40604C-6074-F19E-1CD8-C6BDC6528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815CC5-BA8E-CB0F-8585-CD487ED9F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6921A-14A2-4F32-A9D6-E78D072D5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242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5F3C0-C76E-F5B0-3F10-312509215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1A2408-9AB0-681C-60A4-0830E28F08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6B1643-432D-A630-CED9-716B03C8C5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415D6-4E67-DB70-9DD3-ADF8EF973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8BCD8-7200-4B18-A50D-104872E35C1B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7F608D-71EC-6EAE-5854-62B041D94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A9D706-C346-EF06-BE6B-9C9E67AD9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6921A-14A2-4F32-A9D6-E78D072D5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924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D089C-3F1A-6440-7B21-A34992C19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7187F3-A5A8-C8FB-2A4D-3A53245088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3AC7B-5A63-B547-E0F1-297BAC58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8BCD8-7200-4B18-A50D-104872E35C1B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CB3D1-DB3C-425B-D006-5CB613771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E6115-CC33-8A97-3848-C380AF31E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6921A-14A2-4F32-A9D6-E78D072D5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813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CDDDD7-E734-EE13-8220-DFFD61283A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730704-694D-A9B9-CF3D-7C0F97C49A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B27DC-EE70-A213-D849-FF09C88E3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8BCD8-7200-4B18-A50D-104872E35C1B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CB1C2-A3EC-52EE-04EE-658B461DB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1A7D3-C96E-2A14-7F6A-F00067B99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6921A-14A2-4F32-A9D6-E78D072D5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783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EE5F27-4B5F-9321-E65A-0DA1F744C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3C264F-D358-2EFD-A925-A2A988693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28185-2AEE-F7DE-FF43-527DCD41DD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A8BCD8-7200-4B18-A50D-104872E35C1B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0F972-1EBD-5890-9829-48C83A1263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1625A-BCEB-6B4E-23CA-C671E78375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76921A-14A2-4F32-A9D6-E78D072D5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655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C4CB4-E4A0-F41E-A7DE-023CD5A965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Week 3 </a:t>
            </a:r>
            <a:br>
              <a:rPr lang="en-US" dirty="0"/>
            </a:br>
            <a:r>
              <a:rPr lang="en-US" dirty="0"/>
              <a:t>Checkerboard Assignment</a:t>
            </a:r>
            <a:br>
              <a:rPr lang="en-US" dirty="0"/>
            </a:br>
            <a:r>
              <a:rPr lang="en-US" dirty="0"/>
              <a:t>(Redo)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C343A9-BB50-914D-A818-C05EC3AD66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Shane Pratt</a:t>
            </a:r>
          </a:p>
          <a:p>
            <a:r>
              <a:rPr lang="en-US" dirty="0"/>
              <a:t>EMBD.X424</a:t>
            </a:r>
          </a:p>
          <a:p>
            <a:r>
              <a:rPr lang="en-US" dirty="0"/>
              <a:t>AI-Driven Embedded Systems</a:t>
            </a:r>
          </a:p>
        </p:txBody>
      </p:sp>
    </p:spTree>
    <p:extLst>
      <p:ext uri="{BB962C8B-B14F-4D97-AF65-F5344CB8AC3E}">
        <p14:creationId xmlns:p14="http://schemas.microsoft.com/office/powerpoint/2010/main" val="4090899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BDE87-6041-DC39-A9C0-8879DF67E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4AAA8-DB7A-F135-6F32-D3215E8DA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Checkerboard – 2x2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04139CB-1976-F5B2-5A16-2A6596E67B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522" y="1690688"/>
            <a:ext cx="5410200" cy="414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7E816CF-0FCE-B6E2-74E7-B3C44783D1CB}"/>
              </a:ext>
            </a:extLst>
          </p:cNvPr>
          <p:cNvSpPr txBox="1"/>
          <p:nvPr/>
        </p:nvSpPr>
        <p:spPr>
          <a:xfrm>
            <a:off x="6258280" y="1961882"/>
            <a:ext cx="43885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 hidden 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Hidden layer size = 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LR = 0.1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Epochs = 1000</a:t>
            </a:r>
          </a:p>
        </p:txBody>
      </p:sp>
    </p:spTree>
    <p:extLst>
      <p:ext uri="{BB962C8B-B14F-4D97-AF65-F5344CB8AC3E}">
        <p14:creationId xmlns:p14="http://schemas.microsoft.com/office/powerpoint/2010/main" val="2124560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86960-B477-A549-3A8D-B270A944D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AA50B-2354-E3C9-4D41-474E2A5E9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Checkerboard – 2x2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B0CAC95-18BE-FA2E-F482-991BECB3B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690688"/>
            <a:ext cx="5191125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2B19C8B-105F-193A-D258-978A7E985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" y="1589088"/>
            <a:ext cx="5743575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1388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640CA-D863-436E-D068-49C64E013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43F69-C12A-8BA9-DBC6-DA282B088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Checkerboard – 2x2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0B53F8-F058-F0D7-07FA-D938D9466635}"/>
              </a:ext>
            </a:extLst>
          </p:cNvPr>
          <p:cNvSpPr txBox="1"/>
          <p:nvPr/>
        </p:nvSpPr>
        <p:spPr>
          <a:xfrm>
            <a:off x="838200" y="2032000"/>
            <a:ext cx="1006686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Improvements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 Architecture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Increase hidden layers/neurons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Different activation functions – </a:t>
            </a:r>
            <a:r>
              <a:rPr lang="en-US" b="1" dirty="0" err="1"/>
              <a:t>ReLU</a:t>
            </a:r>
            <a:r>
              <a:rPr lang="en-US" b="1" dirty="0"/>
              <a:t> for hidden layers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Training Process Improvements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Hyperparameter Tuning – change learning rate, number of epochs, </a:t>
            </a:r>
            <a:r>
              <a:rPr lang="en-US" b="1" dirty="0" err="1"/>
              <a:t>etc</a:t>
            </a:r>
            <a:endParaRPr lang="en-US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Mini-Batch Gradient Decent – train smaller subsets of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Regularization – L1/L2 regularization technique to prevent overfitting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Data-Related Improvements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More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Feature Scaling/Normalization (I don’t think this is applicable) </a:t>
            </a:r>
          </a:p>
        </p:txBody>
      </p:sp>
    </p:spTree>
    <p:extLst>
      <p:ext uri="{BB962C8B-B14F-4D97-AF65-F5344CB8AC3E}">
        <p14:creationId xmlns:p14="http://schemas.microsoft.com/office/powerpoint/2010/main" val="3690838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04D87-A4F0-988C-9AD0-B36571296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D17E2-CC1C-360C-786D-193E0EA27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Checkerboard – 2x2 (Improvement 1)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6C235F-BE93-77D3-3542-9241B87326C6}"/>
              </a:ext>
            </a:extLst>
          </p:cNvPr>
          <p:cNvSpPr txBox="1"/>
          <p:nvPr/>
        </p:nvSpPr>
        <p:spPr>
          <a:xfrm>
            <a:off x="6258280" y="1961882"/>
            <a:ext cx="438855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Doubled number of samples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Adjusted initialization weights*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initial weights were too small, lead to 'dying </a:t>
            </a:r>
            <a:r>
              <a:rPr lang="en-US" dirty="0" err="1"/>
              <a:t>ReLUs</a:t>
            </a:r>
            <a:r>
              <a:rPr lang="en-US" dirty="0"/>
              <a:t>' where many neurons output zero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 hidden layers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Hidden layer size = 32, 16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LR = 0.01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Epochs = 5000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6E7061E-F28F-4FD5-9C13-66143BBA63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521" y="1690688"/>
            <a:ext cx="5410200" cy="414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5835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27238-7F54-5CD0-EA95-49A9D957E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48B2B-1DAA-396E-336A-E6A7E7FFE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Checkerboard – 2x2 (Improvement 1)</a:t>
            </a:r>
          </a:p>
        </p:txBody>
      </p:sp>
      <p:pic>
        <p:nvPicPr>
          <p:cNvPr id="5126" name="Picture 6">
            <a:extLst>
              <a:ext uri="{FF2B5EF4-FFF2-40B4-BE49-F238E27FC236}">
                <a16:creationId xmlns:a16="http://schemas.microsoft.com/office/drawing/2014/main" id="{6B7D707A-1087-9A2F-4783-30A15C7E4A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479" y="1690688"/>
            <a:ext cx="5743575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9083447A-79E5-BE72-71C1-E79365502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0054" y="1690688"/>
            <a:ext cx="5105400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7645CB-261F-DE06-834A-107EC7D5840B}"/>
              </a:ext>
            </a:extLst>
          </p:cNvPr>
          <p:cNvSpPr txBox="1"/>
          <p:nvPr/>
        </p:nvSpPr>
        <p:spPr>
          <a:xfrm>
            <a:off x="7450667" y="543401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urier New" panose="02070309020205020404" pitchFamily="49" charset="0"/>
              </a:rPr>
              <a:t>Epoch 4900, Loss: 0.0641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9646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E3919-78EB-AE28-C71B-A314EE3B8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7FD93-9327-2599-B01F-8DFA9B518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Checkerboard – 2x2 (Improvement 1)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D32C33-1982-ADF0-E863-9825D7CDA369}"/>
              </a:ext>
            </a:extLst>
          </p:cNvPr>
          <p:cNvSpPr txBox="1"/>
          <p:nvPr/>
        </p:nvSpPr>
        <p:spPr>
          <a:xfrm>
            <a:off x="6258280" y="1961882"/>
            <a:ext cx="43885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Mini-batch gradient decent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 hidden layers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Hidden layer size = 32, 16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LR = 0.01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Epochs = 5000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Batch size = 64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B87B09D-57D3-4A1C-5917-070F1724F8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521" y="1690688"/>
            <a:ext cx="5410200" cy="414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4628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E2E41-5AC0-EE4F-BD18-598E46831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D1C5D-5B84-E959-B4FB-E59E48ED8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Checkerboard – 2x2 (Improvement 2)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AA116A78-7115-08FA-BDE4-D58E99CA9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25" y="1690688"/>
            <a:ext cx="5743575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9A2B61C6-3EC3-1ABD-B132-B0A753190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1690688"/>
            <a:ext cx="5105400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06E2CD5-4A8F-7595-E69D-DD585453A45B}"/>
              </a:ext>
            </a:extLst>
          </p:cNvPr>
          <p:cNvSpPr txBox="1"/>
          <p:nvPr/>
        </p:nvSpPr>
        <p:spPr>
          <a:xfrm>
            <a:off x="7473245" y="543401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urier New" panose="02070309020205020404" pitchFamily="49" charset="0"/>
              </a:rPr>
              <a:t>Epoch 4900, Loss: 0.0106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8277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64D3F-1666-F28C-0B34-8A4A59EBF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661B5-0B81-D85F-F474-2EF3F4E67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Checkerboard – 4x4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70602E85-F55C-FEDB-1329-8F8C497FD9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470202"/>
            <a:ext cx="5410200" cy="414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8A0E9E-3DD0-2747-61CB-491DEBE495C4}"/>
              </a:ext>
            </a:extLst>
          </p:cNvPr>
          <p:cNvSpPr txBox="1"/>
          <p:nvPr/>
        </p:nvSpPr>
        <p:spPr>
          <a:xfrm>
            <a:off x="6570134" y="1576299"/>
            <a:ext cx="42784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Adjustments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Increased learning rate from 0.1 to 0.5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Increased to 3 hidden layers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Sizes = 64, 32, 16</a:t>
            </a:r>
          </a:p>
        </p:txBody>
      </p:sp>
    </p:spTree>
    <p:extLst>
      <p:ext uri="{BB962C8B-B14F-4D97-AF65-F5344CB8AC3E}">
        <p14:creationId xmlns:p14="http://schemas.microsoft.com/office/powerpoint/2010/main" val="779527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DB861-2AD6-D690-B5E8-8CBA93476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7C773-318F-C54B-9F40-23278640B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Checkerboard – 4x4</a:t>
            </a:r>
          </a:p>
        </p:txBody>
      </p:sp>
      <p:pic>
        <p:nvPicPr>
          <p:cNvPr id="9226" name="Picture 10">
            <a:extLst>
              <a:ext uri="{FF2B5EF4-FFF2-40B4-BE49-F238E27FC236}">
                <a16:creationId xmlns:a16="http://schemas.microsoft.com/office/drawing/2014/main" id="{8B1E27E0-A3E0-1DBE-0F4A-D245E5D581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" y="1690688"/>
            <a:ext cx="5743575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8" name="Picture 12">
            <a:extLst>
              <a:ext uri="{FF2B5EF4-FFF2-40B4-BE49-F238E27FC236}">
                <a16:creationId xmlns:a16="http://schemas.microsoft.com/office/drawing/2014/main" id="{B48CC640-3D07-187D-D5CB-98E2592AD2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690688"/>
            <a:ext cx="5105400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B2B7A9-19AE-3525-D879-FA9D9DF6E7FC}"/>
              </a:ext>
            </a:extLst>
          </p:cNvPr>
          <p:cNvSpPr txBox="1"/>
          <p:nvPr/>
        </p:nvSpPr>
        <p:spPr>
          <a:xfrm>
            <a:off x="7191022" y="543401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urier New" panose="02070309020205020404" pitchFamily="49" charset="0"/>
              </a:rPr>
              <a:t>Epoch 4900, Loss: 0.0100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1609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BF8BF-AF3D-F08A-B896-62D9BABD5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F3392-74B1-6363-E0DB-0C3B96495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Checkerboard – 8x8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3D750A-181E-F8DC-DAE8-7B2FFE2B910C}"/>
              </a:ext>
            </a:extLst>
          </p:cNvPr>
          <p:cNvSpPr txBox="1"/>
          <p:nvPr/>
        </p:nvSpPr>
        <p:spPr>
          <a:xfrm>
            <a:off x="6570134" y="1576299"/>
            <a:ext cx="4278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Adjustments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none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F9989302-BFA5-393C-1B37-201FDD1E4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576299"/>
            <a:ext cx="5410200" cy="414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30756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F5AE0-4692-CD0A-F0F0-392FEB77C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3482E-5A09-5EA0-5B6B-2ADEB7A6D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Checkerboard – 8x8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4D713C91-23FD-3331-FB3B-CBECC08FCC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25" y="1476551"/>
            <a:ext cx="5743575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>
            <a:extLst>
              <a:ext uri="{FF2B5EF4-FFF2-40B4-BE49-F238E27FC236}">
                <a16:creationId xmlns:a16="http://schemas.microsoft.com/office/drawing/2014/main" id="{C8A40D9E-97CF-8A5F-5F73-5B6B2B89A6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1476551"/>
            <a:ext cx="5105400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39FFBD-2973-9C49-E28A-356E09601961}"/>
              </a:ext>
            </a:extLst>
          </p:cNvPr>
          <p:cNvSpPr txBox="1"/>
          <p:nvPr/>
        </p:nvSpPr>
        <p:spPr>
          <a:xfrm>
            <a:off x="7540978" y="533048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urier New" panose="02070309020205020404" pitchFamily="49" charset="0"/>
              </a:rPr>
              <a:t>Epoch 4900, Loss: 0.1110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4337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296</Words>
  <Application>Microsoft Office PowerPoint</Application>
  <PresentationFormat>Widescreen</PresentationFormat>
  <Paragraphs>71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Courier New</vt:lpstr>
      <vt:lpstr>Office Theme</vt:lpstr>
      <vt:lpstr>Week 3  Checkerboard Assignment (Redo)</vt:lpstr>
      <vt:lpstr>Checkerboard – 2x2</vt:lpstr>
      <vt:lpstr>Checkerboard – 2x2</vt:lpstr>
      <vt:lpstr>Checkerboard – 2x2</vt:lpstr>
      <vt:lpstr>Checkerboard – 2x2 (Improvement 1)</vt:lpstr>
      <vt:lpstr>Checkerboard – 2x2 (Improvement 1)</vt:lpstr>
      <vt:lpstr>Checkerboard – 2x2 (Improvement 1)</vt:lpstr>
      <vt:lpstr>Checkerboard – 2x2 (Improvement 2)</vt:lpstr>
      <vt:lpstr>Checkerboard – 4x4</vt:lpstr>
      <vt:lpstr>Checkerboard – 4x4</vt:lpstr>
      <vt:lpstr>Checkerboard – 8x8</vt:lpstr>
      <vt:lpstr>Checkerboard – 8x8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Shane Pratt</dc:creator>
  <cp:lastModifiedBy>Shane Pratt</cp:lastModifiedBy>
  <cp:revision>8</cp:revision>
  <dcterms:created xsi:type="dcterms:W3CDTF">2026-04-24T00:20:24Z</dcterms:created>
  <dcterms:modified xsi:type="dcterms:W3CDTF">2026-05-01T01:28:22Z</dcterms:modified>
</cp:coreProperties>
</file>