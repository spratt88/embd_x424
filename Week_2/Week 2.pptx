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58" r:id="rId3"/>
    <p:sldId id="260" r:id="rId4"/>
    <p:sldId id="262" r:id="rId5"/>
    <p:sldId id="261" r:id="rId6"/>
    <p:sldId id="259" r:id="rId7"/>
    <p:sldId id="264" r:id="rId8"/>
    <p:sldId id="265" r:id="rId9"/>
    <p:sldId id="263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76998" autoAdjust="0"/>
  </p:normalViewPr>
  <p:slideViewPr>
    <p:cSldViewPr snapToGrid="0">
      <p:cViewPr varScale="1">
        <p:scale>
          <a:sx n="85" d="100"/>
          <a:sy n="85" d="100"/>
        </p:scale>
        <p:origin x="159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2E33D4C-727B-4800-818C-9C3B2FB761FC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D47EEAE-B9C5-4D35-A931-B91954B2B5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84914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Hidden size = 8</a:t>
            </a:r>
          </a:p>
          <a:p>
            <a:r>
              <a:rPr lang="en-US" dirty="0"/>
              <a:t>LR = 0.1</a:t>
            </a:r>
          </a:p>
          <a:p>
            <a:r>
              <a:rPr lang="en-US" dirty="0"/>
              <a:t>Epochs = 1000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47EEAE-B9C5-4D35-A931-B91954B2B5DE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04336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948A85-0A9E-FE45-A4CF-F0330FF064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C36CCD1-88DB-282A-F18E-4B9A928964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27E5CD8-336F-A1AB-53D3-1326C6ED39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Hidden size = 16</a:t>
            </a:r>
          </a:p>
          <a:p>
            <a:r>
              <a:rPr lang="en-US" dirty="0"/>
              <a:t>LR = 0.1</a:t>
            </a:r>
          </a:p>
          <a:p>
            <a:r>
              <a:rPr lang="en-US" dirty="0"/>
              <a:t>Epochs = 2000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C8AFE5-792B-7E69-C3E8-3EC8D161900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47EEAE-B9C5-4D35-A931-B91954B2B5DE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95626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94AAE0-D9F0-4BE6-AD7E-139435803A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F3349AB-52A0-F9C5-E6A9-58CF84B27F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DD7CF4C-E952-252C-4CDC-B43D8592BF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9F6A2A-CC32-8C53-450D-CC0CC78EEE3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47EEAE-B9C5-4D35-A931-B91954B2B5DE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943523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Hidden size = 8</a:t>
            </a:r>
          </a:p>
          <a:p>
            <a:r>
              <a:rPr lang="en-US" dirty="0"/>
              <a:t>LR = 0.1</a:t>
            </a:r>
          </a:p>
          <a:p>
            <a:r>
              <a:rPr lang="en-US" dirty="0"/>
              <a:t>Epochs = 2000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47EEAE-B9C5-4D35-A931-B91954B2B5DE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822230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257278-2C22-1ED3-7B75-FE0BB79A83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C27BA71-8620-2230-F2C5-04689E01AE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C257173-D138-399E-A6B1-0B1C5248F2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Sigmoid activation function still used on output</a:t>
            </a:r>
          </a:p>
          <a:p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ReLU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are often preferred for hidden layers due to their computational efficiency and ability to mitigate the vanishing gradient problem.</a:t>
            </a:r>
            <a:endParaRPr lang="en-US" dirty="0"/>
          </a:p>
          <a:p>
            <a:endParaRPr lang="en-US" dirty="0"/>
          </a:p>
          <a:p>
            <a:r>
              <a:rPr lang="en-US" dirty="0"/>
              <a:t>Hidden size = 32</a:t>
            </a:r>
          </a:p>
          <a:p>
            <a:r>
              <a:rPr lang="en-US" dirty="0"/>
              <a:t>LR = 0.1</a:t>
            </a:r>
          </a:p>
          <a:p>
            <a:r>
              <a:rPr lang="en-US" dirty="0"/>
              <a:t>Epochs = 5000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0E9E18-9B00-3BC8-FDF9-832357D01EF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47EEAE-B9C5-4D35-A931-B91954B2B5DE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93023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C6E5F2-C964-7258-B05E-220512BB2B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CD11B44-B23C-E150-DF91-3B1BD47DCC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ADF846-0889-83BF-BB67-5290286871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A8BCD8-7200-4B18-A50D-104872E35C1B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49B6E0-1370-678B-3A6C-C048B9A3BC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DE15C1-5538-A944-7FD8-7BDAE07FD8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76921A-14A2-4F32-A9D6-E78D072D5A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83130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AEA033-D3EE-7051-4F03-75C2631005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8048AA-374B-9AFA-B5CD-55A9B4E47F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D8AB33-3AD1-9988-0855-6249EFB949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A8BCD8-7200-4B18-A50D-104872E35C1B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5489E2-6EF0-53EB-FF68-A95C213CBB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430FDF-B361-A2D6-3CFF-31A30AA767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76921A-14A2-4F32-A9D6-E78D072D5A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09189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C27ADC-AC4A-0ECB-0820-5E79574AA1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CAB03E-9698-1904-7E2E-255FFBB4F9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14D6F9-304A-180E-17F4-1BD38B5F54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A8BCD8-7200-4B18-A50D-104872E35C1B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CCDD61-479F-4891-F963-CDC0B4FE85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6050C1-B8B9-B0A0-5A15-46C6FC09C0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76921A-14A2-4F32-A9D6-E78D072D5A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99192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2BE7-097F-1567-F4DD-FFF7038CFE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9D0640-D3FF-3E2D-354B-5F61FD33DFB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A6E98A-9E68-50A0-B2D1-338A46393B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0C9163-F658-9BC2-C043-AC567E4609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A8BCD8-7200-4B18-A50D-104872E35C1B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C8C839-4094-D362-2735-B8EF10A16F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AD1C45-BD4E-F696-2468-80FC135B18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76921A-14A2-4F32-A9D6-E78D072D5A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72613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50DC49-69E0-7AA4-9CDE-F1225DC7FA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A5A44A-6044-9B42-373D-3A3F6CBE15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03B8CE-96BF-FD12-A613-24E72D885C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77142DB-B9EB-97F0-F4E3-9149663D9E2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76AE1AC-4E12-9988-81FB-520D8AA35DC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4124AFB-B948-787B-BA8E-EF95AA4678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A8BCD8-7200-4B18-A50D-104872E35C1B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09EF6BF-8FA5-3CDE-2BC3-3A32E94E76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37FDBC7-6B8F-CE28-8EFA-66FD397FE7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76921A-14A2-4F32-A9D6-E78D072D5A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79322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3C2279-A59A-CB4E-0D61-2387A3401D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0FDD0CC-D25A-3EBA-6DB7-543A8D159A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A8BCD8-7200-4B18-A50D-104872E35C1B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C3C12C3-A6C1-E2AC-CD68-9874E990A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D96331-E1E6-16CC-4E09-F014CE7050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76921A-14A2-4F32-A9D6-E78D072D5A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36970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6D3EAFF-3951-9287-B76D-A2F40000D3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A8BCD8-7200-4B18-A50D-104872E35C1B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BA7CE7B-6CE2-BEC2-E4E5-7813923BF3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2A3795-0742-137B-267F-303FC2E318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76921A-14A2-4F32-A9D6-E78D072D5A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15099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5321C0-C08E-246B-0800-378B9C41E1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787404-B4C8-C47D-D47C-64511AB88A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409F497-01D8-0C00-51B7-A44DDAD7F8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6702A6-40E6-9A70-6C93-967E434878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A8BCD8-7200-4B18-A50D-104872E35C1B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40604C-6074-F19E-1CD8-C6BDC6528E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815CC5-BA8E-CB0F-8585-CD487ED9FF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76921A-14A2-4F32-A9D6-E78D072D5A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92427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F5F3C0-C76E-F5B0-3F10-312509215C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E1A2408-9AB0-681C-60A4-0830E28F089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C6B1643-432D-A630-CED9-716B03C8C5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7415D6-4E67-DB70-9DD3-ADF8EF9732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A8BCD8-7200-4B18-A50D-104872E35C1B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7F608D-71EC-6EAE-5854-62B041D947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A9D706-C346-EF06-BE6B-9C9E67AD9F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76921A-14A2-4F32-A9D6-E78D072D5A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09240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ED089C-3F1A-6440-7B21-A34992C192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57187F3-A5A8-C8FB-2A4D-3A53245088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33AC7B-5A63-B547-E0F1-297BAC5853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A8BCD8-7200-4B18-A50D-104872E35C1B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FCB3D1-DB3C-425B-D006-5CB6137713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9E6115-CC33-8A97-3848-C380AF31E9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76921A-14A2-4F32-A9D6-E78D072D5A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18133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FCDDDD7-E734-EE13-8220-DFFD61283A6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E730704-694D-A9B9-CF3D-7C0F97C49A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2B27DC-EE70-A213-D849-FF09C88E3B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A8BCD8-7200-4B18-A50D-104872E35C1B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0CB1C2-A3EC-52EE-04EE-658B461DB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91A7D3-C96E-2A14-7F6A-F00067B99B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76921A-14A2-4F32-A9D6-E78D072D5A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87835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0EE5F27-4B5F-9321-E65A-0DA1F744CB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3C264F-D358-2EFD-A925-A2A988693D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228185-2AEE-F7DE-FF43-527DCD41DD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4A8BCD8-7200-4B18-A50D-104872E35C1B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D0F972-1EBD-5890-9829-48C83A12631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11625A-BCEB-6B4E-23CA-C671E78375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A76921A-14A2-4F32-A9D6-E78D072D5A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96556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7C4CB4-E4A0-F41E-A7DE-023CD5A965C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Week 2 </a:t>
            </a:r>
            <a:br>
              <a:rPr lang="en-US" dirty="0"/>
            </a:br>
            <a:r>
              <a:rPr lang="en-US" dirty="0"/>
              <a:t>Checkerboard Assignment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CC343A9-BB50-914D-A818-C05EC3AD669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Shane Pratt</a:t>
            </a:r>
          </a:p>
          <a:p>
            <a:r>
              <a:rPr lang="en-US" dirty="0"/>
              <a:t>EMBD.X424</a:t>
            </a:r>
          </a:p>
          <a:p>
            <a:r>
              <a:rPr lang="en-US" dirty="0"/>
              <a:t>AI-Driven Embedded Systems</a:t>
            </a:r>
          </a:p>
        </p:txBody>
      </p:sp>
    </p:spTree>
    <p:extLst>
      <p:ext uri="{BB962C8B-B14F-4D97-AF65-F5344CB8AC3E}">
        <p14:creationId xmlns:p14="http://schemas.microsoft.com/office/powerpoint/2010/main" val="40908997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5ADA70-4BD3-BE9F-C172-7D312674E6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28F54B-6E83-C031-76F4-2784AE88B2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Gemini – Checkerboard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D2EE31-C9C9-B9FD-0830-C837B7D8F6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78083B0E-2826-C68E-1AB1-6C2F9ED6E6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1" y="1825625"/>
            <a:ext cx="5410200" cy="4143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67DF8644-80A2-0B67-3367-BEAEDEF014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8400" y="1929606"/>
            <a:ext cx="5553075" cy="4143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605206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7BDE87-6041-DC39-A9C0-8879DF67E3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64AAA8-DB7A-F135-6F32-D3215E8DA6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Claude – Checkerboard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7DBC87-AD82-69D6-48A3-5B5D8F24A8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9E27589-E07D-9DFC-58E7-B6DAD0ED66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1" y="1929606"/>
            <a:ext cx="5410200" cy="414337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EE1A979-116A-D42D-EAC2-03B6198B81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8400" y="1901825"/>
            <a:ext cx="5553075" cy="4143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45606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C34053-E0B1-88BA-2A4A-1B856FE8BA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AF899E-DE35-A234-BDA7-E9C72D42A0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Gemini vs Claude – Checkerboard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0401CB6-AF9E-09E0-1078-08F2897E57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0667" y="1690689"/>
            <a:ext cx="5553075" cy="4143375"/>
          </a:xfrm>
          <a:prstGeom prst="rect">
            <a:avLst/>
          </a:prstGeom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BD7F07E2-085C-695C-8DC2-8B3D655BE4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2793" y="1690688"/>
            <a:ext cx="5553075" cy="4143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C1CC4BD-C492-8D9B-BB0B-FB3DD0D0DC16}"/>
              </a:ext>
            </a:extLst>
          </p:cNvPr>
          <p:cNvSpPr txBox="1"/>
          <p:nvPr/>
        </p:nvSpPr>
        <p:spPr>
          <a:xfrm>
            <a:off x="8505801" y="1294886"/>
            <a:ext cx="9076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Claude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B024808-0A31-A25E-2DAC-6C4EEEC40563}"/>
              </a:ext>
            </a:extLst>
          </p:cNvPr>
          <p:cNvSpPr txBox="1"/>
          <p:nvPr/>
        </p:nvSpPr>
        <p:spPr>
          <a:xfrm>
            <a:off x="2647924" y="1272335"/>
            <a:ext cx="9028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Gemini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606503F-3CAD-4F50-F86F-12C1B6F99233}"/>
              </a:ext>
            </a:extLst>
          </p:cNvPr>
          <p:cNvSpPr txBox="1"/>
          <p:nvPr/>
        </p:nvSpPr>
        <p:spPr>
          <a:xfrm>
            <a:off x="8053880" y="5834063"/>
            <a:ext cx="180664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Hidden size = 16</a:t>
            </a:r>
          </a:p>
          <a:p>
            <a:r>
              <a:rPr lang="en-US" dirty="0"/>
              <a:t>LR = 0.1</a:t>
            </a:r>
          </a:p>
          <a:p>
            <a:r>
              <a:rPr lang="en-US" dirty="0"/>
              <a:t>Epochs = 2000</a:t>
            </a:r>
          </a:p>
          <a:p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E4B6D83-2A7B-F6A3-6F52-4669CA071233}"/>
              </a:ext>
            </a:extLst>
          </p:cNvPr>
          <p:cNvSpPr txBox="1"/>
          <p:nvPr/>
        </p:nvSpPr>
        <p:spPr>
          <a:xfrm>
            <a:off x="2196005" y="5834062"/>
            <a:ext cx="168321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Hidden size = 8</a:t>
            </a:r>
          </a:p>
          <a:p>
            <a:r>
              <a:rPr lang="en-US" dirty="0"/>
              <a:t>LR = 0.1</a:t>
            </a:r>
          </a:p>
          <a:p>
            <a:r>
              <a:rPr lang="en-US" dirty="0"/>
              <a:t>Epochs = 1000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80451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1772BC-A0C6-FC3E-BAD5-0FEC247F05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Gemini vs Claude - Loss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644989-8948-0AFB-E452-799E3B5010F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dirty="0"/>
              <a:t>Gemini</a:t>
            </a:r>
          </a:p>
          <a:p>
            <a:pPr marL="0" indent="0">
              <a:buNone/>
            </a:pPr>
            <a:r>
              <a:rPr lang="sv-SE" dirty="0"/>
              <a:t>Epoch 0, Loss: 1.1583 </a:t>
            </a:r>
          </a:p>
          <a:p>
            <a:pPr marL="0" indent="0">
              <a:buNone/>
            </a:pPr>
            <a:r>
              <a:rPr lang="sv-SE" dirty="0"/>
              <a:t>Epoch 100, Loss: 0.6985 </a:t>
            </a:r>
          </a:p>
          <a:p>
            <a:pPr marL="0" indent="0">
              <a:buNone/>
            </a:pPr>
            <a:r>
              <a:rPr lang="sv-SE" dirty="0"/>
              <a:t>Epoch 200, Loss: 0.6954 </a:t>
            </a:r>
          </a:p>
          <a:p>
            <a:pPr marL="0" indent="0">
              <a:buNone/>
            </a:pPr>
            <a:r>
              <a:rPr lang="sv-SE" dirty="0"/>
              <a:t>Epoch 300, Loss: 0.6939 </a:t>
            </a:r>
          </a:p>
          <a:p>
            <a:pPr marL="0" indent="0">
              <a:buNone/>
            </a:pPr>
            <a:r>
              <a:rPr lang="sv-SE" dirty="0"/>
              <a:t>Epoch 400, Loss: 0.6931 </a:t>
            </a:r>
          </a:p>
          <a:p>
            <a:pPr marL="0" indent="0">
              <a:buNone/>
            </a:pPr>
            <a:r>
              <a:rPr lang="sv-SE" dirty="0"/>
              <a:t>Epoch 500, Loss: 0.6927 </a:t>
            </a:r>
          </a:p>
          <a:p>
            <a:pPr marL="0" indent="0">
              <a:buNone/>
            </a:pPr>
            <a:r>
              <a:rPr lang="sv-SE" dirty="0"/>
              <a:t>Epoch 600, Loss: 0.6924 </a:t>
            </a:r>
          </a:p>
          <a:p>
            <a:pPr marL="0" indent="0">
              <a:buNone/>
            </a:pPr>
            <a:r>
              <a:rPr lang="sv-SE" dirty="0"/>
              <a:t>Epoch 700, Loss: 0.6923 </a:t>
            </a:r>
          </a:p>
          <a:p>
            <a:pPr marL="0" indent="0">
              <a:buNone/>
            </a:pPr>
            <a:r>
              <a:rPr lang="sv-SE" dirty="0"/>
              <a:t>Epoch 800, Loss: 0.6922 </a:t>
            </a:r>
          </a:p>
          <a:p>
            <a:pPr marL="0" indent="0">
              <a:buNone/>
            </a:pPr>
            <a:r>
              <a:rPr lang="sv-SE" dirty="0"/>
              <a:t>Epoch 900, Loss: 0.6922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9FDD07-5DF8-3A0A-39A7-3D1F30AA10A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dirty="0"/>
              <a:t>Claude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/>
              <a:t>Epoch 0, Loss: 0.7141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/>
              <a:t>Epoch 100, Loss: 0.6896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/>
              <a:t>Epoch 200, Loss: 0.6887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/>
              <a:t>Epoch 300, Loss: 0.6885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/>
              <a:t>Epoch 400, Loss: 0.6885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/>
              <a:t>Epoch 500, Loss: 0.6885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/>
              <a:t>Epoch 600, Loss: 0.6885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/>
              <a:t>Epoch 700, Loss: 0.6884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/>
              <a:t>Epoch 800, Loss: 0.6884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/>
              <a:t>Epoch 900, Loss: 0.6884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/>
              <a:t>Epoch 1000, Loss: 0.6884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/>
              <a:t>Epoch 1100, Loss: 0.6883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/>
              <a:t>Epoch 1200, Loss: 0.6883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/>
              <a:t>Epoch 1300, Loss: 0.6883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/>
              <a:t>Epoch 1400, Loss: 0.6883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/>
              <a:t>Epoch 1500, Loss: 0.6882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/>
              <a:t>Epoch 1600, Loss: 0.6882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/>
              <a:t>Epoch 1700, Loss: 0.6882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/>
              <a:t>Epoch 1800, Loss: 0.6882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/>
              <a:t>Epoch 1900, Loss: 0.6881</a:t>
            </a:r>
          </a:p>
        </p:txBody>
      </p:sp>
    </p:spTree>
    <p:extLst>
      <p:ext uri="{BB962C8B-B14F-4D97-AF65-F5344CB8AC3E}">
        <p14:creationId xmlns:p14="http://schemas.microsoft.com/office/powerpoint/2010/main" val="33645886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32F635-2579-6B59-5C61-9FB11AC071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AF1CC4-3F36-2543-2644-E28DB0AAA3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Gemini – Circular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1BEC0C-2706-9E4E-EE9D-264F1E9020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613EAA9C-07B4-97C9-5C23-A249F962F5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1" y="1825625"/>
            <a:ext cx="5410200" cy="4143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2D065304-25AB-309A-3891-1D6FB64743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8400" y="1825625"/>
            <a:ext cx="5553075" cy="4143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448274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5F3696-67BC-E442-FB96-684A93FB6B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75CE4F-BE7B-F9EB-BE38-579FD1F06C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Gemini – Circular (</a:t>
            </a:r>
            <a:r>
              <a:rPr lang="en-US" dirty="0" err="1"/>
              <a:t>ReLU</a:t>
            </a:r>
            <a:r>
              <a:rPr lang="en-US" dirty="0"/>
              <a:t> Hidden Layer) 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59587BB9-E818-0A18-FB04-BEEC937B8D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1" y="1825625"/>
            <a:ext cx="5410200" cy="4143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98" name="Picture 2">
            <a:extLst>
              <a:ext uri="{FF2B5EF4-FFF2-40B4-BE49-F238E27FC236}">
                <a16:creationId xmlns:a16="http://schemas.microsoft.com/office/drawing/2014/main" id="{A5B50FD0-7C20-7EE3-1D03-B866E21C4C95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8401" y="1991352"/>
            <a:ext cx="5330963" cy="39776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040427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ECE651-BAF7-19D6-151F-096F56CE46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5A6D86-C130-03D7-A90F-3E7158C65E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Circular – Sigmoid vs </a:t>
            </a:r>
            <a:r>
              <a:rPr lang="en-US" dirty="0" err="1"/>
              <a:t>ReLU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F9B6C3-1763-E6D6-5441-558D0C5F9F5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62500" lnSpcReduction="20000"/>
          </a:bodyPr>
          <a:lstStyle/>
          <a:p>
            <a:pPr>
              <a:spcAft>
                <a:spcPts val="1000"/>
              </a:spcAft>
            </a:pPr>
            <a:r>
              <a:rPr lang="en-US" dirty="0"/>
              <a:t>Sigmoid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/>
              <a:t>Epoch 0, Loss: 0.5567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/>
              <a:t>Epoch 100, Loss: 0.4927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/>
              <a:t>Epoch 200, Loss: 0.4855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/>
              <a:t>Epoch 300, Loss: 0.4810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/>
              <a:t>Epoch 400, Loss: 0.4771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/>
              <a:t>Epoch 500, Loss: 0.4731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/>
              <a:t>Epoch 600, Loss: 0.4687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/>
              <a:t>Epoch 700, Loss: 0.4638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/>
              <a:t>Epoch 800, Loss: 0.4584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/>
              <a:t>Epoch 900, Loss: 0.4525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/>
              <a:t>Epoch 1000, Loss: 0.4462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/>
              <a:t>Epoch 1100, Loss: 0.4393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/>
              <a:t>Epoch 1200, Loss: 0.4320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/>
              <a:t>Epoch 1300, Loss: 0.4244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/>
              <a:t>Epoch 1400, Loss: 0.4164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/>
              <a:t>Epoch 1500, Loss: 0.4081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/>
              <a:t>Epoch 1600, Loss: 0.3995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/>
              <a:t>Epoch 1700, Loss: 0.3908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/>
              <a:t>Epoch 1800, Loss: 0.3819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/>
              <a:t>Epoch 1900, Loss: 0.3729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D857F0FE-D552-D29B-7640-A3956C0C4F44}"/>
              </a:ext>
            </a:extLst>
          </p:cNvPr>
          <p:cNvSpPr txBox="1">
            <a:spLocks/>
          </p:cNvSpPr>
          <p:nvPr/>
        </p:nvSpPr>
        <p:spPr>
          <a:xfrm>
            <a:off x="6172202" y="1825625"/>
            <a:ext cx="5181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err="1"/>
              <a:t>ReLU</a:t>
            </a:r>
            <a:endParaRPr lang="en-US" dirty="0"/>
          </a:p>
          <a:p>
            <a:pPr marL="0" indent="0">
              <a:buNone/>
            </a:pPr>
            <a:r>
              <a:rPr lang="sv-SE" dirty="0"/>
              <a:t>Epoch 0, Loss: 1.7391 </a:t>
            </a:r>
          </a:p>
          <a:p>
            <a:pPr marL="0" indent="0">
              <a:buNone/>
            </a:pPr>
            <a:r>
              <a:rPr lang="sv-SE" dirty="0"/>
              <a:t>Epoch 500, Loss: 0.1237 </a:t>
            </a:r>
          </a:p>
          <a:p>
            <a:pPr marL="0" indent="0">
              <a:buNone/>
            </a:pPr>
            <a:r>
              <a:rPr lang="sv-SE" dirty="0"/>
              <a:t>Epoch 1000, Loss: 0.0876 </a:t>
            </a:r>
          </a:p>
          <a:p>
            <a:pPr marL="0" indent="0">
              <a:buNone/>
            </a:pPr>
            <a:r>
              <a:rPr lang="sv-SE" dirty="0"/>
              <a:t>Epoch 1500, Loss: 0.0739 </a:t>
            </a:r>
          </a:p>
          <a:p>
            <a:pPr marL="0" indent="0">
              <a:buNone/>
            </a:pPr>
            <a:r>
              <a:rPr lang="sv-SE" dirty="0"/>
              <a:t>Epoch 2000, Loss: 0.0658 </a:t>
            </a:r>
          </a:p>
          <a:p>
            <a:pPr marL="0" indent="0">
              <a:buNone/>
            </a:pPr>
            <a:r>
              <a:rPr lang="sv-SE" dirty="0"/>
              <a:t>Epoch 2500, Loss: 0.0599 </a:t>
            </a:r>
          </a:p>
          <a:p>
            <a:pPr marL="0" indent="0">
              <a:buNone/>
            </a:pPr>
            <a:r>
              <a:rPr lang="sv-SE" dirty="0"/>
              <a:t>Epoch 3000, Loss: 0.0556 </a:t>
            </a:r>
          </a:p>
          <a:p>
            <a:pPr marL="0" indent="0">
              <a:buNone/>
            </a:pPr>
            <a:r>
              <a:rPr lang="sv-SE" dirty="0"/>
              <a:t>Epoch 3500, Loss: 0.0518 </a:t>
            </a:r>
          </a:p>
          <a:p>
            <a:pPr marL="0" indent="0">
              <a:buNone/>
            </a:pPr>
            <a:r>
              <a:rPr lang="sv-SE" dirty="0"/>
              <a:t>Epoch 4000, Loss: 0.0488 </a:t>
            </a:r>
          </a:p>
          <a:p>
            <a:pPr marL="0" indent="0">
              <a:buNone/>
            </a:pPr>
            <a:r>
              <a:rPr lang="sv-SE" dirty="0"/>
              <a:t>Epoch 4500, Loss: 0.0463 </a:t>
            </a:r>
          </a:p>
          <a:p>
            <a:pPr marL="0" indent="0">
              <a:buNone/>
            </a:pPr>
            <a:r>
              <a:rPr lang="sv-SE" dirty="0"/>
              <a:t>Epoch 4999, Loss: 0.0441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28031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6A0FD5-67CD-D2D4-3AC8-9DE7938FAF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EE7F14-4C0F-6C18-B166-2086F8B446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Why is this non-linear?</a:t>
            </a:r>
          </a:p>
          <a:p>
            <a:pPr lvl="1"/>
            <a:r>
              <a:rPr lang="en-US" dirty="0"/>
              <a:t>This is non-linear because the model cannot draw a perfectly straight line through the data points to classify them. Since the data set is based on a circle, the model needs to used a curve line for decisions.</a:t>
            </a:r>
          </a:p>
          <a:p>
            <a:r>
              <a:rPr lang="en-US" dirty="0"/>
              <a:t>Would a single-layer perceptron work?</a:t>
            </a:r>
          </a:p>
          <a:p>
            <a:pPr lvl="1"/>
            <a:r>
              <a:rPr lang="en-US" dirty="0"/>
              <a:t>No - A single-layer perceptron can only learn linearly separable patterns, which the circular classification model is not.</a:t>
            </a:r>
          </a:p>
          <a:p>
            <a:r>
              <a:rPr lang="en-US" dirty="0"/>
              <a:t>How would the decision boundary differ from the checkerboard?</a:t>
            </a:r>
          </a:p>
          <a:p>
            <a:pPr lvl="1"/>
            <a:r>
              <a:rPr lang="en-US" dirty="0"/>
              <a:t>The decision boundary for the circular classification fits the model better since there is a defined radius for data points. The checkerboard is a collection of boundaries made up of vertical and horizontal lines that it has to combine.</a:t>
            </a:r>
          </a:p>
        </p:txBody>
      </p:sp>
    </p:spTree>
    <p:extLst>
      <p:ext uri="{BB962C8B-B14F-4D97-AF65-F5344CB8AC3E}">
        <p14:creationId xmlns:p14="http://schemas.microsoft.com/office/powerpoint/2010/main" val="11843711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634</Words>
  <Application>Microsoft Office PowerPoint</Application>
  <PresentationFormat>Widescreen</PresentationFormat>
  <Paragraphs>111</Paragraphs>
  <Slides>9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Office Theme</vt:lpstr>
      <vt:lpstr>Week 2  Checkerboard Assignment</vt:lpstr>
      <vt:lpstr>Gemini – Checkerboard </vt:lpstr>
      <vt:lpstr>Claude – Checkerboard </vt:lpstr>
      <vt:lpstr>Gemini vs Claude – Checkerboard </vt:lpstr>
      <vt:lpstr>Gemini vs Claude - Loss</vt:lpstr>
      <vt:lpstr>Gemini – Circular </vt:lpstr>
      <vt:lpstr>Gemini – Circular (ReLU Hidden Layer) </vt:lpstr>
      <vt:lpstr>Circular – Sigmoid vs ReLU</vt:lpstr>
      <vt:lpstr>Questions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Shane Pratt</dc:creator>
  <cp:lastModifiedBy>Shane Pratt</cp:lastModifiedBy>
  <cp:revision>2</cp:revision>
  <dcterms:created xsi:type="dcterms:W3CDTF">2026-04-24T00:20:24Z</dcterms:created>
  <dcterms:modified xsi:type="dcterms:W3CDTF">2026-04-24T00:49:34Z</dcterms:modified>
</cp:coreProperties>
</file>